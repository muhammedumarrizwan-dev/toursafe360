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69" r:id="rId4"/>
    <p:sldId id="274" r:id="rId5"/>
    <p:sldId id="272" r:id="rId6"/>
    <p:sldId id="275" r:id="rId7"/>
    <p:sldId id="271" r:id="rId8"/>
    <p:sldId id="273" r:id="rId9"/>
    <p:sldId id="278" r:id="rId10"/>
    <p:sldId id="268" r:id="rId11"/>
    <p:sldId id="270" r:id="rId12"/>
    <p:sldId id="279" r:id="rId13"/>
    <p:sldId id="280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ABA59E7-20D9-2C33-C952-702CF0D4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1AA222EA-7423-1FE7-90E0-685E38D889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FBA77C1-59F0-98D7-50F2-11110F8B4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53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289BD2EF-79EB-F26A-8235-253569569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EF8E4C73-005D-5999-EB1B-F1E5CE0CA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B01B7532-9CA2-0BDD-B0B8-50C8612E4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619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4AB06B9-0A81-F4D4-B715-9E226581E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70030B9-6E6A-A0C0-233C-A8676EC8C4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2ACF4F71-17D5-A9CC-9117-6CB565721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6985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5468544-17F8-3A4D-0173-73C38FDD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73FC67A-B264-9E79-1BC0-354448D876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313FC72-573D-9A4E-E7A7-FDCEF31AAA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4606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C8171C8-3549-D2AD-0305-18DB56933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3EC1143C-34D5-09A3-05BB-BB337CBC0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712B95C-69C1-24E1-95D6-872EA56E9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2432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000" dirty="0"/>
              <a:t>Smart Tourist Safety Monitoring &amp; Incident Response System using AI, Geo-Fencing, and Blockchain-based Digital ID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 CAI_13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17365D"/>
              </a:buClr>
              <a:buSzPts val="2000"/>
            </a:pPr>
            <a:endParaRPr lang="en-US" sz="20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Dr. Srinivasan TR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74478835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20221CAI0150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Sandeep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20231CAI3005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Manish Kumar Sharma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20221CAI0149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Muhammed Umar Rizwan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 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/>
                <a:ea typeface="Cambria"/>
                <a:cs typeface="Verdana"/>
                <a:sym typeface="Verdana"/>
              </a:rPr>
              <a:t>Final Viva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Name of the Program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: 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CAI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Zafar Ali Khan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NG</a:t>
            </a:r>
            <a:endParaRPr lang="en-US" sz="1800" b="1" dirty="0">
              <a:solidFill>
                <a:schemeClr val="tx1"/>
              </a:solidFill>
              <a:latin typeface="Cambria"/>
              <a:ea typeface="Cambria"/>
              <a:cs typeface="Verdana"/>
            </a:endParaRPr>
          </a:p>
          <a:p>
            <a:r>
              <a:rPr lang="en-US" sz="1800" b="1" dirty="0">
                <a:solidFill>
                  <a:schemeClr val="accent1"/>
                </a:solidFill>
                <a:latin typeface="Cambria"/>
                <a:ea typeface="Cambria"/>
                <a:cs typeface="Verdana"/>
                <a:sym typeface="Verdana"/>
              </a:rPr>
              <a:t>Name of the School Project Coordinators: </a:t>
            </a:r>
            <a:r>
              <a:rPr lang="en-US" sz="1800" b="1" dirty="0">
                <a:solidFill>
                  <a:schemeClr val="tx1"/>
                </a:solidFill>
                <a:latin typeface="Cambria"/>
                <a:ea typeface="Cambria"/>
                <a:cs typeface="Verdana"/>
                <a:sym typeface="Verdana"/>
              </a:rPr>
              <a:t>Dr. Sampath A K , Dr. Geetha A </a:t>
            </a:r>
            <a:endParaRPr lang="en-US" sz="1800" b="1" dirty="0">
              <a:solidFill>
                <a:schemeClr val="tx1"/>
              </a:solidFill>
              <a:latin typeface="Cambria"/>
              <a:ea typeface="Cambri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Solution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Key 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/>
                <a:ea typeface="Cambria"/>
              </a:rPr>
              <a:t>System Architecture</a:t>
            </a:r>
            <a:endParaRPr lang="en-US" dirty="0"/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/>
                <a:ea typeface="Cambria"/>
              </a:rPr>
              <a:t>Tech Stack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Core Methodology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UI Showcase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latin typeface="Cambria"/>
                <a:ea typeface="Cambria"/>
              </a:rPr>
              <a:t>Evaluation and Results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Future Enhancements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GB" dirty="0">
                <a:latin typeface="Cambria"/>
                <a:ea typeface="Cambria"/>
              </a:rPr>
              <a:t>Problem Statement Number: SIH25002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01320" y="1024129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sz="1800" dirty="0"/>
              <a:t>Organization: Ministry of Development of North Eastern Region (</a:t>
            </a:r>
            <a:r>
              <a:rPr lang="en-US" sz="1800" dirty="0" err="1"/>
              <a:t>MoDoNER</a:t>
            </a:r>
            <a:r>
              <a:rPr lang="en-US" sz="1800" dirty="0"/>
              <a:t>)</a:t>
            </a:r>
          </a:p>
          <a:p>
            <a:pPr marL="0" indent="0" algn="just">
              <a:buNone/>
            </a:pPr>
            <a:r>
              <a:rPr lang="en-US" dirty="0">
                <a:latin typeface="Cambria"/>
                <a:ea typeface="Cambria"/>
              </a:rPr>
              <a:t>Category : Software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chemeClr val="bg2"/>
                </a:solidFill>
                <a:latin typeface="Cambria"/>
                <a:ea typeface="Cambria"/>
              </a:rPr>
              <a:t>Problem Statement: The Tourism Connectivity Gap</a:t>
            </a:r>
            <a:endParaRPr lang="en-US" b="1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sz="1800" dirty="0"/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C2DF629-5738-029E-6CB4-AC911087E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335" y="2488755"/>
            <a:ext cx="1189620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b="1" dirty="0"/>
              <a:t>Network-Dark Terrains: </a:t>
            </a:r>
            <a:r>
              <a:rPr lang="en-US" sz="1800" dirty="0"/>
              <a:t>Traditional SOS mobile apps fail in deep forests and remote high-altitude zones without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4G/LTE.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b="1" dirty="0"/>
              <a:t>Reactive vs. Proactive: </a:t>
            </a:r>
            <a:r>
              <a:rPr lang="en-US" sz="1800" dirty="0"/>
              <a:t>Current systems rely on the victim manually triggering an alert, which is impossible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if incapacitated.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1800" b="1" dirty="0"/>
              <a:t>Costly &amp; Slow Rescues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Manual patrols and delayed search-and-rescue operations cost governments millions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reduce tourist survival rates.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Hardware Barrier: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dirty="0"/>
              <a:t>Commercial satellite devices cost over $400, making mass state-sponsored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/>
              <a:t>deployment impossible.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0D2BEF08-F5BB-3A34-3714-3197FE6A0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5727051-288E-73B1-676C-BCBB2F59DF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/>
                <a:ea typeface="Cambria"/>
              </a:rPr>
              <a:t>The Proposed Solution:  TourSafe360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6105C77-ED4E-DE48-920E-A22DCAB3F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38150" y="1536180"/>
            <a:ext cx="1189620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proactive, edge-computed, and data-driven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Diagnostics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Replaces manual check-ins with continuous, real-time anomaly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1 Prototype 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Proven software ecosystem using mobile sensor proxies (gyroscopes)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cloud-native backends.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Phase 2 Hardware Vision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Designed for future integration with ₹1,820 custom ESP32 wearables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LoRaWAN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mesh gateways.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Decentralized Intelligence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Runs powerful AI models locally without cloud dependency.</a:t>
            </a:r>
          </a:p>
        </p:txBody>
      </p:sp>
    </p:spTree>
    <p:extLst>
      <p:ext uri="{BB962C8B-B14F-4D97-AF65-F5344CB8AC3E}">
        <p14:creationId xmlns:p14="http://schemas.microsoft.com/office/powerpoint/2010/main" val="128997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sz="2400" dirty="0">
                <a:solidFill>
                  <a:schemeClr val="bg2"/>
                </a:solidFill>
              </a:rPr>
              <a:t>Key Objectives: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7F53E0-F639-BEA9-6315-437C3AD10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7089" y="1293803"/>
            <a:ext cx="12085360" cy="427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b="1" dirty="0">
                <a:latin typeface="+mn-lt"/>
              </a:rPr>
              <a:t>Live Diagnostic Capacity:</a:t>
            </a:r>
            <a:r>
              <a:rPr lang="en-US" sz="1800" dirty="0">
                <a:latin typeface="+mn-lt"/>
              </a:rPr>
              <a:t> Implement continuous physical telemetry tracking (accelerometer/gyroscope).</a:t>
            </a:r>
          </a:p>
          <a:p>
            <a:pPr marL="76200" indent="0">
              <a:buNone/>
            </a:pPr>
            <a:endParaRPr lang="en-US" sz="1800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Predictive Fall &amp; AI Triage:</a:t>
            </a:r>
            <a:r>
              <a:rPr lang="en-US" sz="1800" dirty="0">
                <a:latin typeface="+mn-lt"/>
              </a:rPr>
              <a:t> Achieve high-accuracy anomaly detection and automated medical severity scoring.</a:t>
            </a:r>
          </a:p>
          <a:p>
            <a:pPr marL="76200" indent="0">
              <a:buNone/>
            </a:pPr>
            <a:endParaRPr lang="en-US" sz="1800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Automated Geo-Fencing:</a:t>
            </a:r>
            <a:r>
              <a:rPr lang="en-US" sz="1800" dirty="0">
                <a:latin typeface="+mn-lt"/>
              </a:rPr>
              <a:t> Issue real-time perimeter violation alerts via dynamic spatial boundaries.</a:t>
            </a:r>
          </a:p>
          <a:p>
            <a:pPr marL="76200" indent="0">
              <a:buNone/>
            </a:pPr>
            <a:endParaRPr lang="en-US" sz="1800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Low-Latency Command Integration:</a:t>
            </a:r>
            <a:r>
              <a:rPr lang="en-US" sz="1800" dirty="0">
                <a:latin typeface="+mn-lt"/>
              </a:rPr>
              <a:t> Build an interactive React.js dashboard for police dispatch under 300ms.</a:t>
            </a:r>
          </a:p>
          <a:p>
            <a:endParaRPr lang="en-US" sz="1800" dirty="0">
              <a:latin typeface="+mn-lt"/>
            </a:endParaRPr>
          </a:p>
          <a:p>
            <a:r>
              <a:rPr lang="en-US" sz="1800" b="1" dirty="0">
                <a:latin typeface="+mn-lt"/>
              </a:rPr>
              <a:t>Multilingual Support: </a:t>
            </a:r>
            <a:r>
              <a:rPr lang="en-US" sz="1800" dirty="0">
                <a:latin typeface="+mn-lt"/>
              </a:rPr>
              <a:t>Integrate localized AI for tourist safety assistance.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2A14D2D-29C5-BCFE-1FEB-2D440F2F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A5E82A12-65F2-37FC-42F4-49FF85C3B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sz="2400" dirty="0">
                <a:solidFill>
                  <a:schemeClr val="bg2"/>
                </a:solidFill>
              </a:rPr>
              <a:t>System Architecture :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9D51E3-BC00-C6CC-E85B-34A68DFF2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41806" y="1886330"/>
            <a:ext cx="507016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 Layer: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Flutter Mobile App &amp; React.js Police Dashboard.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Gateway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(Python) with WebSocket orchestration.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(LSTM)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(Mistral-7B).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Layer: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PostgreSQL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PostGIS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spatial geometries.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D2149B-B9D9-97C9-F70C-AE0BF100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56" y="1162618"/>
            <a:ext cx="5412389" cy="453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3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/>
                <a:ea typeface="Cambria"/>
              </a:rPr>
              <a:t>The Technology Stack</a:t>
            </a:r>
            <a:endParaRPr lang="en-US" sz="2000" dirty="0">
              <a:latin typeface="Cambria"/>
              <a:ea typeface="Cambria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0" algn="just">
              <a:buNone/>
            </a:pPr>
            <a:r>
              <a:rPr lang="en-US" sz="1800" b="1" dirty="0">
                <a:latin typeface="+mn-lt"/>
              </a:rPr>
              <a:t>Phase 1 PoC Technology Stack:</a:t>
            </a:r>
          </a:p>
          <a:p>
            <a:pPr marL="76200" indent="0" algn="just">
              <a:buNone/>
            </a:pP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50EF4C-0985-D078-B333-98D959D4A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538365"/>
              </p:ext>
            </p:extLst>
          </p:nvPr>
        </p:nvGraphicFramePr>
        <p:xfrm>
          <a:off x="1012723" y="1759974"/>
          <a:ext cx="9232490" cy="4336026"/>
        </p:xfrm>
        <a:graphic>
          <a:graphicData uri="http://schemas.openxmlformats.org/drawingml/2006/table">
            <a:tbl>
              <a:tblPr/>
              <a:tblGrid>
                <a:gridCol w="4049567">
                  <a:extLst>
                    <a:ext uri="{9D8B030D-6E8A-4147-A177-3AD203B41FA5}">
                      <a16:colId xmlns:a16="http://schemas.microsoft.com/office/drawing/2014/main" val="764200561"/>
                    </a:ext>
                  </a:extLst>
                </a:gridCol>
                <a:gridCol w="5182923">
                  <a:extLst>
                    <a:ext uri="{9D8B030D-6E8A-4147-A177-3AD203B41FA5}">
                      <a16:colId xmlns:a16="http://schemas.microsoft.com/office/drawing/2014/main" val="3533194123"/>
                    </a:ext>
                  </a:extLst>
                </a:gridCol>
              </a:tblGrid>
              <a:tr h="722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Component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Technology Implemented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426186"/>
                  </a:ext>
                </a:extLst>
              </a:tr>
              <a:tr h="722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Edge Machine Learning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ONNX (LSTM Architecture), PyTorch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491248"/>
                  </a:ext>
                </a:extLst>
              </a:tr>
              <a:tr h="722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Independent Triage Agent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Mistral-7B (4-bit Quantized) </a:t>
                      </a:r>
                      <a:r>
                        <a:rPr lang="en-IN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Ollama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772842"/>
                  </a:ext>
                </a:extLst>
              </a:tr>
              <a:tr h="722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/ Spatial Logic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PostgreSQL, PostGIS, FastAPI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7645527"/>
                  </a:ext>
                </a:extLst>
              </a:tr>
              <a:tr h="722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Orchestration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WebSockets, Socket.IO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2051278"/>
                  </a:ext>
                </a:extLst>
              </a:tr>
              <a:tr h="7226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Frontend Interfaces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Flutter (Mobile), React.js (Web)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6564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mbria"/>
                <a:ea typeface="Cambria"/>
              </a:rPr>
              <a:t>Core Methodology: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0B545-BE1E-9409-B7C6-017BF33F230A}"/>
              </a:ext>
            </a:extLst>
          </p:cNvPr>
          <p:cNvSpPr txBox="1"/>
          <p:nvPr/>
        </p:nvSpPr>
        <p:spPr>
          <a:xfrm>
            <a:off x="4267200" y="2113936"/>
            <a:ext cx="64106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Threshold Trigger</a:t>
            </a:r>
            <a:r>
              <a:rPr lang="en-IN" sz="1800" dirty="0"/>
              <a:t>: App detects acceleration spike (e.g., &gt; 3.8g).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AI Parsing</a:t>
            </a:r>
            <a:r>
              <a:rPr lang="en-IN" sz="1800" dirty="0"/>
              <a:t>: Mistral-7B processes the context (GPS, profile, impact magnitude).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Severity Classification: </a:t>
            </a:r>
            <a:r>
              <a:rPr lang="en-IN" sz="1800" dirty="0"/>
              <a:t>AI determines if the gap is Low, Medium, or Critical.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Automated Dispatch: </a:t>
            </a:r>
            <a:r>
              <a:rPr lang="en-IN" sz="1800" dirty="0"/>
              <a:t>System generates specific equipment recommendations (e.g., Stretcher, 4x4 Jeep) for ground teams.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4E27F-8031-5191-673A-45F829643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31" y="1002891"/>
            <a:ext cx="2995534" cy="501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A2C25EA-0C6E-DADE-CE08-D64C91A6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554A8953-FFC2-EC3E-2219-C8D8C967A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2433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sz="2400" dirty="0">
                <a:latin typeface="Cambria"/>
                <a:ea typeface="Cambria"/>
              </a:rPr>
              <a:t>UI Showcase - Mobile Apps : Tourist &amp; Patrol Interfaces (Flutter)</a:t>
            </a:r>
            <a:endParaRPr lang="en-US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E75D2-658B-7C31-0E8C-14897E74DC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 flipH="1">
            <a:off x="7384024" y="2236796"/>
            <a:ext cx="377558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Native Sensor Proxies: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accelerometer background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Safety Assistant: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Llama3.2 powered multilingual chat (20+ languages).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Ground Patrol Routing: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Officer dispatch with AI medical summaries.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C804DB-B3AE-4184-FD40-CBD75FDB3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163554"/>
            <a:ext cx="2388930" cy="4768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00C482-2F0B-FB05-D4CE-A3706D381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782" y="1163554"/>
            <a:ext cx="2530018" cy="487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26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UI Showcase - Command Center :Real-Time Police Web Dashboard (React.js)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670413" y="1143000"/>
            <a:ext cx="2612103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Live Spatial Map: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Leaflet integration for moving markers.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Dynamic Geo-Fencing: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Visualizing safe zones and restricted perimeters.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Active Incident Queue: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Instant WebSocket alerts for regional monitoring.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63A43-E781-637C-F9CF-03382025A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521" y="1360756"/>
            <a:ext cx="7734421" cy="435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Evaluation &amp; Results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AI Fall Detection Accuracy: 85.0%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F1-Score (Sensor Data): 86.0%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Response Time: &lt; 300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ms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(Sub-second target achieved)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Triage Severity Identification: 94.2% accuracy in testing vs. manual triage.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6636DC5-0942-E1F4-97C9-5830031CE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5BB925E-5A2A-B5A8-75BB-5B96F6F2D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Future Enhancements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AF811C0-6648-53F7-DFDD-9078979044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Custom Wearables: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Transitioning from smartphone proxies to ESP32-S3 microcontroller bands with MAX30102 sensors (SpO2/Heart Rate).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Offline Connectivity: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Deploying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LoRaWAN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mesh gateways to ensure telemetry transmission in absolute network dead zones.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Immutable Auditing: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Implementing Hyperledger Fabric (v2.5) blockchain to securely record all SOS events for state disaster management compliance.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811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B66E83B-E91D-7781-D545-24AC0DB6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B8961AD-10D2-5D4C-32A5-BAE9BA3CF8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EEE68031-5168-7874-2A46-5C2EA472EC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SDG 8 &amp; 9 Alignment: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Fostering sustainable eco-tourism and building resilient digital infrastructure in North East India.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Cost-Effective Scalability: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Mass-deployable architecture vastly cheaper than commercial satellite tracking.</a:t>
            </a: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Empowering Authorities: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Shifting emergency management from reactive guesswork to proactive, AI-driven precision.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795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814</Words>
  <Application>Microsoft Office PowerPoint</Application>
  <PresentationFormat>Widescreen</PresentationFormat>
  <Paragraphs>141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Cambria</vt:lpstr>
      <vt:lpstr>Google Sans Text</vt:lpstr>
      <vt:lpstr>Verdana</vt:lpstr>
      <vt:lpstr>Wingdings</vt:lpstr>
      <vt:lpstr>Bioinformatics</vt:lpstr>
      <vt:lpstr>Smart Tourist Safety Monitoring &amp; Incident Response System using AI, Geo-Fencing, and Blockchain-based Digital ID</vt:lpstr>
      <vt:lpstr>Content</vt:lpstr>
      <vt:lpstr>Problem Statement Number: SIH25002</vt:lpstr>
      <vt:lpstr>The Proposed Solution:  TourSafe360</vt:lpstr>
      <vt:lpstr>Key Objectives:</vt:lpstr>
      <vt:lpstr>System Architecture :</vt:lpstr>
      <vt:lpstr>The Technology Stack</vt:lpstr>
      <vt:lpstr>Core Methodology:</vt:lpstr>
      <vt:lpstr>UI Showcase - Mobile Apps : Tourist &amp; Patrol Interfaces (Flutter)</vt:lpstr>
      <vt:lpstr>UI Showcase - Command Center :Real-Time Police Web Dashboard (React.js)</vt:lpstr>
      <vt:lpstr>Evaluation &amp; Results</vt:lpstr>
      <vt:lpstr>Future Enhancements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Muhammed Umar Rizwan</cp:lastModifiedBy>
  <cp:revision>360</cp:revision>
  <dcterms:modified xsi:type="dcterms:W3CDTF">2026-04-23T11:41:54Z</dcterms:modified>
</cp:coreProperties>
</file>